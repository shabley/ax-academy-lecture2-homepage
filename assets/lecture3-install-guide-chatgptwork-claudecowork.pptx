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Arimo Bold" charset="1" panose="020B0704020202020204"/>
      <p:regular r:id="rId13"/>
    </p:embeddedFont>
    <p:embeddedFont>
      <p:font typeface="Arimo" charset="1" panose="020B0604020202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Slides/notesSlide2.xml" Type="http://schemas.openxmlformats.org/officeDocument/2006/relationships/notesSlide"/><Relationship Id="rId16" Target="notesSlides/notesSlide3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18632" y="-1194435"/>
            <a:ext cx="7435215" cy="7435215"/>
            <a:chOff x="0" y="0"/>
            <a:chExt cx="9913620" cy="99136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13620" cy="9913620"/>
            </a:xfrm>
            <a:custGeom>
              <a:avLst/>
              <a:gdLst/>
              <a:ahLst/>
              <a:cxnLst/>
              <a:rect r="r" b="b" t="t" l="l"/>
              <a:pathLst>
                <a:path h="9913620" w="9913620">
                  <a:moveTo>
                    <a:pt x="0" y="4956810"/>
                  </a:moveTo>
                  <a:cubicBezTo>
                    <a:pt x="0" y="2219198"/>
                    <a:pt x="2219198" y="0"/>
                    <a:pt x="4956810" y="0"/>
                  </a:cubicBezTo>
                  <a:cubicBezTo>
                    <a:pt x="7694422" y="0"/>
                    <a:pt x="9913620" y="2219198"/>
                    <a:pt x="9913620" y="4956810"/>
                  </a:cubicBezTo>
                  <a:cubicBezTo>
                    <a:pt x="9913620" y="7694422"/>
                    <a:pt x="7694422" y="9913620"/>
                    <a:pt x="4956810" y="9913620"/>
                  </a:cubicBezTo>
                  <a:cubicBezTo>
                    <a:pt x="2219198" y="9913620"/>
                    <a:pt x="0" y="7694422"/>
                    <a:pt x="0" y="4956810"/>
                  </a:cubicBezTo>
                  <a:close/>
                </a:path>
              </a:pathLst>
            </a:custGeom>
            <a:solidFill>
              <a:srgbClr val="1E3A5F">
                <a:alpha val="35686"/>
              </a:srgbClr>
            </a:solidFill>
            <a:ln w="28575" cap="sq">
              <a:solidFill>
                <a:srgbClr val="00C8E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638687" y="2797493"/>
            <a:ext cx="6063615" cy="6063615"/>
            <a:chOff x="0" y="0"/>
            <a:chExt cx="8084820" cy="8084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84820" cy="8084820"/>
            </a:xfrm>
            <a:custGeom>
              <a:avLst/>
              <a:gdLst/>
              <a:ahLst/>
              <a:cxnLst/>
              <a:rect r="r" b="b" t="t" l="l"/>
              <a:pathLst>
                <a:path h="8084820" w="8084820">
                  <a:moveTo>
                    <a:pt x="0" y="4042410"/>
                  </a:moveTo>
                  <a:cubicBezTo>
                    <a:pt x="0" y="1809877"/>
                    <a:pt x="1809877" y="0"/>
                    <a:pt x="4042410" y="0"/>
                  </a:cubicBezTo>
                  <a:cubicBezTo>
                    <a:pt x="6274943" y="0"/>
                    <a:pt x="8084820" y="1809877"/>
                    <a:pt x="8084820" y="4042410"/>
                  </a:cubicBezTo>
                  <a:cubicBezTo>
                    <a:pt x="8084820" y="6274943"/>
                    <a:pt x="6274943" y="8084820"/>
                    <a:pt x="4042410" y="8084820"/>
                  </a:cubicBezTo>
                  <a:cubicBezTo>
                    <a:pt x="1809877" y="8084820"/>
                    <a:pt x="0" y="6274943"/>
                    <a:pt x="0" y="4042410"/>
                  </a:cubicBezTo>
                  <a:close/>
                </a:path>
              </a:pathLst>
            </a:custGeom>
            <a:solidFill>
              <a:srgbClr val="1E3A5F">
                <a:alpha val="20000"/>
              </a:srgbClr>
            </a:solidFill>
            <a:ln w="28575" cap="sq">
              <a:solidFill>
                <a:srgbClr val="C9A84C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303020"/>
            <a:ext cx="13030200" cy="548640"/>
            <a:chOff x="0" y="0"/>
            <a:chExt cx="173736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7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2769" r="0" b="-41276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38100"/>
              <a:ext cx="17373600" cy="693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5"/>
                </a:lnSpc>
              </a:pPr>
              <a:r>
                <a:rPr lang="en-US" sz="2449" b="true">
                  <a:solidFill>
                    <a:srgbClr val="C9A84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AX ACADEMY 2026 SUMMER SCHOOL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523172"/>
            <a:ext cx="14401800" cy="3557337"/>
            <a:chOff x="0" y="0"/>
            <a:chExt cx="19202400" cy="47431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02400" cy="4743116"/>
            </a:xfrm>
            <a:custGeom>
              <a:avLst/>
              <a:gdLst/>
              <a:ahLst/>
              <a:cxnLst/>
              <a:rect r="r" b="b" t="t" l="l"/>
              <a:pathLst>
                <a:path h="4743116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4743116"/>
                  </a:lnTo>
                  <a:lnTo>
                    <a:pt x="0" y="47431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44" r="0" b="-2322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19202400" cy="48574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712"/>
                </a:lnSpc>
              </a:pPr>
              <a:r>
                <a:rPr lang="en-US" sz="6600" b="true">
                  <a:solidFill>
                    <a:srgbClr val="00C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실습 전 필수!</a:t>
              </a:r>
            </a:p>
            <a:p>
              <a:pPr algn="l">
                <a:lnSpc>
                  <a:spcPts val="8712"/>
                </a:lnSpc>
              </a:pPr>
              <a:r>
                <a:rPr lang="en-US" sz="6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ChatGPT Work × Claude Cowork </a:t>
              </a:r>
            </a:p>
            <a:p>
              <a:pPr algn="l">
                <a:lnSpc>
                  <a:spcPts val="8712"/>
                </a:lnSpc>
              </a:pPr>
              <a:r>
                <a:rPr lang="en-US" sz="66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설치 가이드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4440" y="6438900"/>
            <a:ext cx="1316736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D8E1EC"/>
                </a:solidFill>
                <a:latin typeface="Arimo"/>
                <a:ea typeface="Arimo"/>
                <a:cs typeface="Arimo"/>
                <a:sym typeface="Arimo"/>
              </a:rPr>
              <a:t>3강 「AI 에이전트 Track &amp; 바이브 코딩」 실습을 위해 강의 전에 미리 설치해 주세요.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9635490"/>
            <a:ext cx="18283428" cy="651510"/>
            <a:chOff x="0" y="0"/>
            <a:chExt cx="24377904" cy="868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868680"/>
            </a:xfrm>
            <a:custGeom>
              <a:avLst/>
              <a:gdLst/>
              <a:ahLst/>
              <a:cxnLst/>
              <a:rect r="r" b="b" t="t" l="l"/>
              <a:pathLst>
                <a:path h="8686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868680"/>
                  </a:lnTo>
                  <a:lnTo>
                    <a:pt x="0" y="868680"/>
                  </a:lnTo>
                  <a:close/>
                </a:path>
              </a:pathLst>
            </a:custGeom>
            <a:solidFill>
              <a:srgbClr val="1E3A5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9309735"/>
            <a:ext cx="15773400" cy="1303020"/>
            <a:chOff x="0" y="0"/>
            <a:chExt cx="21031200" cy="1737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312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871" r="0" b="-18587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1031200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0"/>
                </a:lnSpc>
              </a:pPr>
              <a:r>
                <a:rPr lang="en-US" sz="18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2026. 7. 18.(토) 오전 7시~9시</a:t>
              </a:r>
              <a:r>
                <a:rPr lang="en-US" sz="1850">
                  <a:solidFill>
                    <a:srgbClr val="8FA3BC"/>
                  </a:solidFill>
                  <a:latin typeface="Arimo"/>
                  <a:ea typeface="Arimo"/>
                  <a:cs typeface="Arimo"/>
                  <a:sym typeface="Arimo"/>
                </a:rPr>
                <a:t>   |   온라인 ZOOM   |   </a:t>
              </a:r>
              <a:r>
                <a:rPr lang="en-US" sz="1850" b="true">
                  <a:solidFill>
                    <a:srgbClr val="00C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고연심 교수 · 한국인공지능인재개발원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384048"/>
            <a:ext cx="16733520" cy="891540"/>
            <a:chOff x="0" y="0"/>
            <a:chExt cx="22311360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113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719" r="0" b="-31571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231136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>
                  <a:solidFill>
                    <a:srgbClr val="1E3A5F"/>
                  </a:solidFill>
                  <a:latin typeface="Arimo"/>
                  <a:ea typeface="Arimo"/>
                  <a:cs typeface="Arimo"/>
                  <a:sym typeface="Arimo"/>
                </a:rPr>
                <a:t>✅ </a:t>
              </a:r>
              <a:r>
                <a:rPr lang="en-US" sz="3900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먼저 확인! 내 계정으로 되나요?</a:t>
              </a:r>
              <a:r>
                <a:rPr lang="en-US" sz="3900" b="true">
                  <a:solidFill>
                    <a:srgbClr val="5B64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– 무료 vs 유료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5330" y="1558290"/>
            <a:ext cx="8199120" cy="6484620"/>
            <a:chOff x="0" y="0"/>
            <a:chExt cx="10932160" cy="8646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32161" cy="8646161"/>
            </a:xfrm>
            <a:custGeom>
              <a:avLst/>
              <a:gdLst/>
              <a:ahLst/>
              <a:cxnLst/>
              <a:rect r="r" b="b" t="t" l="l"/>
              <a:pathLst>
                <a:path h="8646161" w="1093216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84967" y="0"/>
                  </a:lnTo>
                  <a:cubicBezTo>
                    <a:pt x="10866248" y="0"/>
                    <a:pt x="10932161" y="65913"/>
                    <a:pt x="10932161" y="147193"/>
                  </a:cubicBezTo>
                  <a:lnTo>
                    <a:pt x="10932161" y="8498967"/>
                  </a:lnTo>
                  <a:cubicBezTo>
                    <a:pt x="10932161" y="8580248"/>
                    <a:pt x="10866248" y="8646161"/>
                    <a:pt x="10784967" y="8646161"/>
                  </a:cubicBezTo>
                  <a:lnTo>
                    <a:pt x="147193" y="8646161"/>
                  </a:lnTo>
                  <a:cubicBezTo>
                    <a:pt x="65913" y="8646160"/>
                    <a:pt x="0" y="8580247"/>
                    <a:pt x="0" y="8498967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0A37F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54380" y="1577340"/>
            <a:ext cx="8161020" cy="1028700"/>
            <a:chOff x="0" y="0"/>
            <a:chExt cx="1088136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813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881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1225296"/>
                  </a:lnTo>
                  <a:cubicBezTo>
                    <a:pt x="10881361" y="1306068"/>
                    <a:pt x="10815828" y="1371600"/>
                    <a:pt x="10735056" y="1371600"/>
                  </a:cubicBezTo>
                  <a:lnTo>
                    <a:pt x="146304" y="1371600"/>
                  </a:lnTo>
                  <a:cubicBezTo>
                    <a:pt x="65532" y="1371600"/>
                    <a:pt x="0" y="1306068"/>
                    <a:pt x="0" y="1225296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4380" y="1577340"/>
            <a:ext cx="8161020" cy="1028700"/>
            <a:chOff x="0" y="0"/>
            <a:chExt cx="10881360" cy="137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81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81" r="0" b="-1045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88136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ChatGPT Work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97280" y="2880360"/>
            <a:ext cx="1028700" cy="850392"/>
            <a:chOff x="0" y="0"/>
            <a:chExt cx="1371600" cy="11338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1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064" t="0" r="-5606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3716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E8A5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△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63140" y="2880360"/>
            <a:ext cx="6377940" cy="1303020"/>
            <a:chOff x="0" y="0"/>
            <a:chExt cx="8503920" cy="1737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039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50392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3"/>
                </a:lnSpc>
              </a:pPr>
              <a:r>
                <a:rPr lang="en-US" sz="2175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무료 계정 — 맛보기는 가능</a:t>
              </a:r>
            </a:p>
            <a:p>
              <a:pPr algn="l">
                <a:lnSpc>
                  <a:spcPts val="2419"/>
                </a:lnSpc>
              </a:pPr>
              <a:r>
                <a:rPr lang="en-US" sz="1800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데스크톱 앱에서는 무료도 사용 가능. 단, 사용량이 매우 적고 기본 모델만 제공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7280" y="4375404"/>
            <a:ext cx="1028700" cy="850392"/>
            <a:chOff x="0" y="0"/>
            <a:chExt cx="1371600" cy="11338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1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064" t="0" r="-5606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716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✕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263140" y="4375404"/>
            <a:ext cx="6377940" cy="1165860"/>
            <a:chOff x="0" y="0"/>
            <a:chExt cx="850392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5039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94" r="0" b="-5659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5039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3"/>
                </a:lnSpc>
              </a:pPr>
              <a:r>
                <a:rPr lang="en-US" sz="2175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웹·모바일의 Work는 유료 전용</a:t>
              </a:r>
            </a:p>
            <a:p>
              <a:pPr algn="l">
                <a:lnSpc>
                  <a:spcPts val="2419"/>
                </a:lnSpc>
              </a:pPr>
              <a:r>
                <a:rPr lang="en-US" sz="1800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무료 계정은 데스크톱 앱에서만 Work 사용 가능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7280" y="5733288"/>
            <a:ext cx="1028700" cy="850392"/>
            <a:chOff x="0" y="0"/>
            <a:chExt cx="1371600" cy="1133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1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064" t="0" r="-5606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3716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E7D5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63140" y="5733288"/>
            <a:ext cx="6377940" cy="1303020"/>
            <a:chOff x="0" y="0"/>
            <a:chExt cx="8503920" cy="17373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039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850392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3"/>
                </a:lnSpc>
              </a:pPr>
              <a:r>
                <a:rPr lang="en-US" sz="2175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유료 계정 (Plus 이상) — 권장</a:t>
              </a:r>
            </a:p>
            <a:p>
              <a:pPr algn="l">
                <a:lnSpc>
                  <a:spcPts val="2419"/>
                </a:lnSpc>
              </a:pPr>
              <a:r>
                <a:rPr lang="en-US" sz="1800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충분한 사용량 + 상위 모델 선택 가능. 실습을 끝까지 하려면 유료 권장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348978" y="1558290"/>
            <a:ext cx="8199120" cy="6484620"/>
            <a:chOff x="0" y="0"/>
            <a:chExt cx="10932160" cy="8646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32161" cy="8646161"/>
            </a:xfrm>
            <a:custGeom>
              <a:avLst/>
              <a:gdLst/>
              <a:ahLst/>
              <a:cxnLst/>
              <a:rect r="r" b="b" t="t" l="l"/>
              <a:pathLst>
                <a:path h="8646161" w="1093216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84967" y="0"/>
                  </a:lnTo>
                  <a:cubicBezTo>
                    <a:pt x="10866248" y="0"/>
                    <a:pt x="10932161" y="65913"/>
                    <a:pt x="10932161" y="147193"/>
                  </a:cubicBezTo>
                  <a:lnTo>
                    <a:pt x="10932161" y="8498967"/>
                  </a:lnTo>
                  <a:cubicBezTo>
                    <a:pt x="10932161" y="8580248"/>
                    <a:pt x="10866248" y="8646161"/>
                    <a:pt x="10784967" y="8646161"/>
                  </a:cubicBezTo>
                  <a:lnTo>
                    <a:pt x="147193" y="8646161"/>
                  </a:lnTo>
                  <a:cubicBezTo>
                    <a:pt x="65913" y="8646160"/>
                    <a:pt x="0" y="8580247"/>
                    <a:pt x="0" y="8498967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D9775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368028" y="1577340"/>
            <a:ext cx="8161020" cy="1028700"/>
            <a:chOff x="0" y="0"/>
            <a:chExt cx="10881360" cy="1371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81361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881361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735056" y="0"/>
                  </a:lnTo>
                  <a:cubicBezTo>
                    <a:pt x="10815828" y="0"/>
                    <a:pt x="10881361" y="65532"/>
                    <a:pt x="10881361" y="146304"/>
                  </a:cubicBezTo>
                  <a:lnTo>
                    <a:pt x="10881361" y="1225296"/>
                  </a:lnTo>
                  <a:cubicBezTo>
                    <a:pt x="10881361" y="1306068"/>
                    <a:pt x="10815828" y="1371600"/>
                    <a:pt x="10735056" y="1371600"/>
                  </a:cubicBezTo>
                  <a:lnTo>
                    <a:pt x="146304" y="1371600"/>
                  </a:lnTo>
                  <a:cubicBezTo>
                    <a:pt x="65532" y="1371600"/>
                    <a:pt x="0" y="1306068"/>
                    <a:pt x="0" y="1225296"/>
                  </a:cubicBez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68028" y="1577340"/>
            <a:ext cx="8161020" cy="1028700"/>
            <a:chOff x="0" y="0"/>
            <a:chExt cx="10881360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8813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581" r="0" b="-10458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881360" cy="1390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Claude Cowork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710928" y="2880360"/>
            <a:ext cx="1028700" cy="850392"/>
            <a:chOff x="0" y="0"/>
            <a:chExt cx="1371600" cy="11338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71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064" t="0" r="-5606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3716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C0392B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✕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876788" y="2880360"/>
            <a:ext cx="6377940" cy="1303020"/>
            <a:chOff x="0" y="0"/>
            <a:chExt cx="8503920" cy="1737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039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50392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3"/>
                </a:lnSpc>
              </a:pPr>
              <a:r>
                <a:rPr lang="en-US" sz="2175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무료 계정 — 사용 불가</a:t>
              </a:r>
            </a:p>
            <a:p>
              <a:pPr algn="l">
                <a:lnSpc>
                  <a:spcPts val="2419"/>
                </a:lnSpc>
              </a:pPr>
              <a:r>
                <a:rPr lang="en-US" sz="1800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Cowork는 무료 요금제에서 아예 제공되지 않음 (버튼 자체가 없음)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10928" y="4375404"/>
            <a:ext cx="1028700" cy="850392"/>
            <a:chOff x="0" y="0"/>
            <a:chExt cx="1371600" cy="11338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71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064" t="0" r="-56064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3716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E7D5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○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76788" y="4375404"/>
            <a:ext cx="6377940" cy="1165860"/>
            <a:chOff x="0" y="0"/>
            <a:chExt cx="8503920" cy="15544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039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594" r="0" b="-5659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85039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3"/>
                </a:lnSpc>
              </a:pPr>
              <a:r>
                <a:rPr lang="en-US" sz="2175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유료 계정 (Pro 이상) — 필수</a:t>
              </a:r>
            </a:p>
            <a:p>
              <a:pPr algn="l">
                <a:lnSpc>
                  <a:spcPts val="2419"/>
                </a:lnSpc>
              </a:pPr>
              <a:r>
                <a:rPr lang="en-US" sz="1800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Pro · Max · Team · Enterprise 모두 사용 가능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10928" y="5733288"/>
            <a:ext cx="1028700" cy="850392"/>
            <a:chOff x="0" y="0"/>
            <a:chExt cx="1371600" cy="11338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3716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064" t="0" r="-56064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371600" cy="1152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2222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💡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876788" y="5733288"/>
            <a:ext cx="6377940" cy="1303020"/>
            <a:chOff x="0" y="0"/>
            <a:chExt cx="8503920" cy="1737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5039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74" r="0" b="-4537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8503920" cy="1784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3"/>
                </a:lnSpc>
              </a:pPr>
              <a:r>
                <a:rPr lang="en-US" sz="2175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Pro는 월 $20 (약 3만 원)</a:t>
              </a:r>
            </a:p>
            <a:p>
              <a:pPr algn="l">
                <a:lnSpc>
                  <a:spcPts val="2419"/>
                </a:lnSpc>
              </a:pPr>
              <a:r>
                <a:rPr lang="en-US" sz="1800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실습 참여를 원하시면 강의 전 Pro 구독을 미리 준비해 주세요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54380" y="8366760"/>
            <a:ext cx="16774668" cy="1303020"/>
            <a:chOff x="0" y="0"/>
            <a:chExt cx="22366224" cy="1737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3662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366224">
                  <a:moveTo>
                    <a:pt x="0" y="0"/>
                  </a:moveTo>
                  <a:lnTo>
                    <a:pt x="22366224" y="0"/>
                  </a:lnTo>
                  <a:lnTo>
                    <a:pt x="22366224" y="1737360"/>
                  </a:lnTo>
                  <a:lnTo>
                    <a:pt x="0" y="1737360"/>
                  </a:lnTo>
                  <a:close/>
                </a:path>
              </a:pathLst>
            </a:custGeom>
            <a:solidFill>
              <a:srgbClr val="0D1B2E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65860" y="8366760"/>
            <a:ext cx="16047720" cy="1303020"/>
            <a:chOff x="0" y="0"/>
            <a:chExt cx="21396960" cy="1737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396961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396961">
                  <a:moveTo>
                    <a:pt x="0" y="0"/>
                  </a:moveTo>
                  <a:lnTo>
                    <a:pt x="21396961" y="0"/>
                  </a:lnTo>
                  <a:lnTo>
                    <a:pt x="21396961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973" r="0" b="-18997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1396960" cy="1756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C9A84C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21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Claude Cowork는 </a:t>
              </a:r>
              <a:r>
                <a:rPr lang="en-US" sz="2175" b="true">
                  <a:solidFill>
                    <a:srgbClr val="00C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유료(Pro 이상) 필수</a:t>
              </a:r>
              <a:r>
                <a:rPr lang="en-US" sz="21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·  ChatGPT Work는 </a:t>
              </a:r>
              <a:r>
                <a:rPr lang="en-US" sz="2175" b="true">
                  <a:solidFill>
                    <a:srgbClr val="00C8E8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무료도 데스크톱에서 맛보기 가능</a:t>
              </a:r>
              <a:r>
                <a:rPr lang="en-US" sz="2175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(원활한 실습은 유료 권장)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384048"/>
            <a:ext cx="16733520" cy="822960"/>
            <a:chOff x="0" y="0"/>
            <a:chExt cx="2231136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113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3113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E3A5F"/>
                  </a:solidFill>
                  <a:latin typeface="Arimo"/>
                  <a:ea typeface="Arimo"/>
                  <a:cs typeface="Arimo"/>
                  <a:sym typeface="Arimo"/>
                </a:rPr>
                <a:t>💡 </a:t>
              </a:r>
              <a:r>
                <a:rPr lang="en-US" sz="3600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ChatGPT Work 설치 방법</a:t>
              </a:r>
              <a:r>
                <a:rPr lang="en-US" sz="3600" b="true">
                  <a:solidFill>
                    <a:srgbClr val="5B64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– 4단계면 끝!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0093" y="1357312"/>
            <a:ext cx="16803243" cy="824103"/>
            <a:chOff x="0" y="0"/>
            <a:chExt cx="22404324" cy="1098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04324" cy="1098804"/>
            </a:xfrm>
            <a:custGeom>
              <a:avLst/>
              <a:gdLst/>
              <a:ahLst/>
              <a:cxnLst/>
              <a:rect r="r" b="b" t="t" l="l"/>
              <a:pathLst>
                <a:path h="1098804" w="22404324">
                  <a:moveTo>
                    <a:pt x="0" y="0"/>
                  </a:moveTo>
                  <a:lnTo>
                    <a:pt x="22404324" y="0"/>
                  </a:lnTo>
                  <a:lnTo>
                    <a:pt x="22404324" y="1098804"/>
                  </a:lnTo>
                  <a:lnTo>
                    <a:pt x="0" y="1098804"/>
                  </a:lnTo>
                  <a:close/>
                </a:path>
              </a:pathLst>
            </a:custGeom>
            <a:solidFill>
              <a:srgbClr val="FFF4EA"/>
            </a:solidFill>
            <a:ln w="28575" cap="sq">
              <a:solidFill>
                <a:srgbClr val="D2691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371600"/>
            <a:ext cx="16253460" cy="795528"/>
            <a:chOff x="0" y="0"/>
            <a:chExt cx="21671280" cy="10607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7128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8099" r="0" b="-34809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67128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D2691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준비물:  </a:t>
              </a:r>
              <a:r>
                <a:rPr lang="en-US" sz="2025" b="true">
                  <a:solidFill>
                    <a:srgbClr val="2222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ChatGPT 계정 (무료도 가능 · 원활한 실습은 Plus 이상 권장) + 컴퓨터(Windows / Mac)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7236" y="2489168"/>
            <a:ext cx="16788956" cy="1413320"/>
            <a:chOff x="0" y="0"/>
            <a:chExt cx="22385274" cy="18844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85274" cy="1884426"/>
            </a:xfrm>
            <a:custGeom>
              <a:avLst/>
              <a:gdLst/>
              <a:ahLst/>
              <a:cxnLst/>
              <a:rect r="r" b="b" t="t" l="l"/>
              <a:pathLst>
                <a:path h="1884426" w="2238527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22274403" y="0"/>
                  </a:lnTo>
                  <a:cubicBezTo>
                    <a:pt x="22335617" y="0"/>
                    <a:pt x="22385274" y="49657"/>
                    <a:pt x="22385274" y="110871"/>
                  </a:cubicBezTo>
                  <a:lnTo>
                    <a:pt x="22385274" y="1773555"/>
                  </a:lnTo>
                  <a:cubicBezTo>
                    <a:pt x="22385274" y="1834769"/>
                    <a:pt x="22335617" y="1884426"/>
                    <a:pt x="22274403" y="1884426"/>
                  </a:cubicBezTo>
                  <a:lnTo>
                    <a:pt x="110871" y="1884426"/>
                  </a:lnTo>
                  <a:cubicBezTo>
                    <a:pt x="49657" y="1884426"/>
                    <a:pt x="0" y="1834769"/>
                    <a:pt x="0" y="1773555"/>
                  </a:cubicBezTo>
                  <a:close/>
                </a:path>
              </a:pathLst>
            </a:custGeom>
            <a:solidFill>
              <a:srgbClr val="F5F7FA"/>
            </a:solidFill>
            <a:ln w="14288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784348"/>
            <a:ext cx="822960" cy="822960"/>
            <a:chOff x="0" y="0"/>
            <a:chExt cx="10972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2784348"/>
            <a:ext cx="822960" cy="822960"/>
            <a:chOff x="0" y="0"/>
            <a:chExt cx="1097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00300" y="2606040"/>
            <a:ext cx="14881860" cy="1179576"/>
            <a:chOff x="0" y="0"/>
            <a:chExt cx="19842480" cy="15727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424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19842480">
                  <a:moveTo>
                    <a:pt x="0" y="0"/>
                  </a:moveTo>
                  <a:lnTo>
                    <a:pt x="19842480" y="0"/>
                  </a:lnTo>
                  <a:lnTo>
                    <a:pt x="198424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28" r="0" b="-1958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842480" cy="162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325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다운로드</a:t>
              </a:r>
            </a:p>
            <a:p>
              <a:pPr algn="l">
                <a:lnSpc>
                  <a:spcPts val="2620"/>
                </a:lnSpc>
              </a:pPr>
              <a:r>
                <a:rPr lang="en-US" sz="1950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인터넷에서 chatgpt.com/download 접속 → 내 컴퓨터에 맞는 ChatGPT 데스크톱 앱 다운로드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7236" y="4135088"/>
            <a:ext cx="16788956" cy="1413320"/>
            <a:chOff x="0" y="0"/>
            <a:chExt cx="22385274" cy="18844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385274" cy="1884426"/>
            </a:xfrm>
            <a:custGeom>
              <a:avLst/>
              <a:gdLst/>
              <a:ahLst/>
              <a:cxnLst/>
              <a:rect r="r" b="b" t="t" l="l"/>
              <a:pathLst>
                <a:path h="1884426" w="2238527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22274403" y="0"/>
                  </a:lnTo>
                  <a:cubicBezTo>
                    <a:pt x="22335617" y="0"/>
                    <a:pt x="22385274" y="49657"/>
                    <a:pt x="22385274" y="110871"/>
                  </a:cubicBezTo>
                  <a:lnTo>
                    <a:pt x="22385274" y="1773555"/>
                  </a:lnTo>
                  <a:cubicBezTo>
                    <a:pt x="22385274" y="1834769"/>
                    <a:pt x="22335617" y="1884426"/>
                    <a:pt x="22274403" y="1884426"/>
                  </a:cubicBezTo>
                  <a:lnTo>
                    <a:pt x="110871" y="1884426"/>
                  </a:lnTo>
                  <a:cubicBezTo>
                    <a:pt x="49657" y="1884426"/>
                    <a:pt x="0" y="1834769"/>
                    <a:pt x="0" y="1773555"/>
                  </a:cubicBezTo>
                  <a:close/>
                </a:path>
              </a:pathLst>
            </a:custGeom>
            <a:solidFill>
              <a:srgbClr val="F5F7FA"/>
            </a:solidFill>
            <a:ln w="14288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4430268"/>
            <a:ext cx="822960" cy="822960"/>
            <a:chOff x="0" y="0"/>
            <a:chExt cx="1097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4430268"/>
            <a:ext cx="822960" cy="822960"/>
            <a:chOff x="0" y="0"/>
            <a:chExt cx="109728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400300" y="4251960"/>
            <a:ext cx="14881860" cy="1179576"/>
            <a:chOff x="0" y="0"/>
            <a:chExt cx="19842480" cy="15727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8424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19842480">
                  <a:moveTo>
                    <a:pt x="0" y="0"/>
                  </a:moveTo>
                  <a:lnTo>
                    <a:pt x="19842480" y="0"/>
                  </a:lnTo>
                  <a:lnTo>
                    <a:pt x="198424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28" r="0" b="-19582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9842480" cy="162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325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설치 후 로그인</a:t>
              </a:r>
            </a:p>
            <a:p>
              <a:pPr algn="l">
                <a:lnSpc>
                  <a:spcPts val="2620"/>
                </a:lnSpc>
              </a:pPr>
              <a:r>
                <a:rPr lang="en-US" sz="1950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다운로드한 파일을 더블클릭해 설치 → 평소 쓰는 ChatGPT 계정으로 로그인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47236" y="5781008"/>
            <a:ext cx="16788956" cy="1413320"/>
            <a:chOff x="0" y="0"/>
            <a:chExt cx="22385274" cy="18844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385274" cy="1884426"/>
            </a:xfrm>
            <a:custGeom>
              <a:avLst/>
              <a:gdLst/>
              <a:ahLst/>
              <a:cxnLst/>
              <a:rect r="r" b="b" t="t" l="l"/>
              <a:pathLst>
                <a:path h="1884426" w="2238527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22274403" y="0"/>
                  </a:lnTo>
                  <a:cubicBezTo>
                    <a:pt x="22335617" y="0"/>
                    <a:pt x="22385274" y="49657"/>
                    <a:pt x="22385274" y="110871"/>
                  </a:cubicBezTo>
                  <a:lnTo>
                    <a:pt x="22385274" y="1773555"/>
                  </a:lnTo>
                  <a:cubicBezTo>
                    <a:pt x="22385274" y="1834769"/>
                    <a:pt x="22335617" y="1884426"/>
                    <a:pt x="22274403" y="1884426"/>
                  </a:cubicBezTo>
                  <a:lnTo>
                    <a:pt x="110871" y="1884426"/>
                  </a:lnTo>
                  <a:cubicBezTo>
                    <a:pt x="49657" y="1884426"/>
                    <a:pt x="0" y="1834769"/>
                    <a:pt x="0" y="1773555"/>
                  </a:cubicBezTo>
                  <a:close/>
                </a:path>
              </a:pathLst>
            </a:custGeom>
            <a:solidFill>
              <a:srgbClr val="F5F7FA"/>
            </a:solidFill>
            <a:ln w="14288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65860" y="6076188"/>
            <a:ext cx="822960" cy="822960"/>
            <a:chOff x="0" y="0"/>
            <a:chExt cx="10972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6076188"/>
            <a:ext cx="822960" cy="822960"/>
            <a:chOff x="0" y="0"/>
            <a:chExt cx="1097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400300" y="5897880"/>
            <a:ext cx="14881860" cy="1179576"/>
            <a:chOff x="0" y="0"/>
            <a:chExt cx="19842480" cy="15727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8424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19842480">
                  <a:moveTo>
                    <a:pt x="0" y="0"/>
                  </a:moveTo>
                  <a:lnTo>
                    <a:pt x="19842480" y="0"/>
                  </a:lnTo>
                  <a:lnTo>
                    <a:pt x="198424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28" r="0" b="-19582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9842480" cy="162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325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Work 모드 선택</a:t>
              </a:r>
            </a:p>
            <a:p>
              <a:pPr algn="l">
                <a:lnSpc>
                  <a:spcPts val="2755"/>
                </a:lnSpc>
              </a:pPr>
              <a:r>
                <a:rPr lang="en-US" sz="2049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입력창 옆 모드 버튼에서 Chat / Work / Codex 중 「Work」 클릭 — ※ 한국어 화면에서는</a:t>
              </a:r>
              <a:r>
                <a:rPr lang="en-US" sz="2049">
                  <a:solidFill>
                    <a:srgbClr val="FF3131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2049" b="true">
                  <a:solidFill>
                    <a:srgbClr val="FF313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「작업」</a:t>
              </a:r>
              <a:r>
                <a:rPr lang="en-US" sz="2049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 등으로 표시될 수 있습니다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7236" y="7426928"/>
            <a:ext cx="16788956" cy="1413320"/>
            <a:chOff x="0" y="0"/>
            <a:chExt cx="22385274" cy="18844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385274" cy="1884426"/>
            </a:xfrm>
            <a:custGeom>
              <a:avLst/>
              <a:gdLst/>
              <a:ahLst/>
              <a:cxnLst/>
              <a:rect r="r" b="b" t="t" l="l"/>
              <a:pathLst>
                <a:path h="1884426" w="2238527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22274403" y="0"/>
                  </a:lnTo>
                  <a:cubicBezTo>
                    <a:pt x="22335617" y="0"/>
                    <a:pt x="22385274" y="49657"/>
                    <a:pt x="22385274" y="110871"/>
                  </a:cubicBezTo>
                  <a:lnTo>
                    <a:pt x="22385274" y="1773555"/>
                  </a:lnTo>
                  <a:cubicBezTo>
                    <a:pt x="22385274" y="1834769"/>
                    <a:pt x="22335617" y="1884426"/>
                    <a:pt x="22274403" y="1884426"/>
                  </a:cubicBezTo>
                  <a:lnTo>
                    <a:pt x="110871" y="1884426"/>
                  </a:lnTo>
                  <a:cubicBezTo>
                    <a:pt x="49657" y="1884426"/>
                    <a:pt x="0" y="1834769"/>
                    <a:pt x="0" y="1773555"/>
                  </a:cubicBezTo>
                  <a:close/>
                </a:path>
              </a:pathLst>
            </a:custGeom>
            <a:solidFill>
              <a:srgbClr val="F5F7FA"/>
            </a:solidFill>
            <a:ln w="14288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65860" y="7722108"/>
            <a:ext cx="822960" cy="822960"/>
            <a:chOff x="0" y="0"/>
            <a:chExt cx="109728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A37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65860" y="7722108"/>
            <a:ext cx="822960" cy="822960"/>
            <a:chOff x="0" y="0"/>
            <a:chExt cx="109728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400300" y="7543800"/>
            <a:ext cx="14881860" cy="1179576"/>
            <a:chOff x="0" y="0"/>
            <a:chExt cx="19842480" cy="15727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8424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19842480">
                  <a:moveTo>
                    <a:pt x="0" y="0"/>
                  </a:moveTo>
                  <a:lnTo>
                    <a:pt x="19842480" y="0"/>
                  </a:lnTo>
                  <a:lnTo>
                    <a:pt x="198424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828" r="0" b="-19582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9842480" cy="162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4"/>
                </a:lnSpc>
              </a:pPr>
              <a:r>
                <a:rPr lang="en-US" sz="2325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작업 시작</a:t>
              </a:r>
            </a:p>
            <a:p>
              <a:pPr algn="l">
                <a:lnSpc>
                  <a:spcPts val="2620"/>
                </a:lnSpc>
              </a:pPr>
              <a:r>
                <a:rPr lang="en-US" sz="1950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작업할 폴더를 지정하거나 파일을 첨부하고, 원하는 결과물을 말로 설명하면 AI가 알아서 실행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380" y="384048"/>
            <a:ext cx="16733520" cy="822960"/>
            <a:chOff x="0" y="0"/>
            <a:chExt cx="22311360" cy="1097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113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311361">
                  <a:moveTo>
                    <a:pt x="0" y="0"/>
                  </a:moveTo>
                  <a:lnTo>
                    <a:pt x="22311361" y="0"/>
                  </a:lnTo>
                  <a:lnTo>
                    <a:pt x="223113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195" r="0" b="-34619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31136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1E3A5F"/>
                  </a:solidFill>
                  <a:latin typeface="Arimo"/>
                  <a:ea typeface="Arimo"/>
                  <a:cs typeface="Arimo"/>
                  <a:sym typeface="Arimo"/>
                </a:rPr>
                <a:t>💡 </a:t>
              </a:r>
              <a:r>
                <a:rPr lang="en-US" sz="3600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Claude Cowork(코웍) 설치 방법</a:t>
              </a:r>
              <a:r>
                <a:rPr lang="en-US" sz="3600" b="true">
                  <a:solidFill>
                    <a:srgbClr val="5B64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 – 4단계면 끝!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0093" y="1357312"/>
            <a:ext cx="16803243" cy="824103"/>
            <a:chOff x="0" y="0"/>
            <a:chExt cx="22404324" cy="1098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04324" cy="1098804"/>
            </a:xfrm>
            <a:custGeom>
              <a:avLst/>
              <a:gdLst/>
              <a:ahLst/>
              <a:cxnLst/>
              <a:rect r="r" b="b" t="t" l="l"/>
              <a:pathLst>
                <a:path h="1098804" w="22404324">
                  <a:moveTo>
                    <a:pt x="0" y="0"/>
                  </a:moveTo>
                  <a:lnTo>
                    <a:pt x="22404324" y="0"/>
                  </a:lnTo>
                  <a:lnTo>
                    <a:pt x="22404324" y="1098804"/>
                  </a:lnTo>
                  <a:lnTo>
                    <a:pt x="0" y="1098804"/>
                  </a:lnTo>
                  <a:close/>
                </a:path>
              </a:pathLst>
            </a:custGeom>
            <a:solidFill>
              <a:srgbClr val="FFF4EA"/>
            </a:solidFill>
            <a:ln w="28575" cap="sq">
              <a:solidFill>
                <a:srgbClr val="D2691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371600"/>
            <a:ext cx="16253460" cy="795528"/>
            <a:chOff x="0" y="0"/>
            <a:chExt cx="21671280" cy="10607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71280" cy="1060704"/>
            </a:xfrm>
            <a:custGeom>
              <a:avLst/>
              <a:gdLst/>
              <a:ahLst/>
              <a:cxnLst/>
              <a:rect r="r" b="b" t="t" l="l"/>
              <a:pathLst>
                <a:path h="1060704" w="21671280">
                  <a:moveTo>
                    <a:pt x="0" y="0"/>
                  </a:moveTo>
                  <a:lnTo>
                    <a:pt x="21671280" y="0"/>
                  </a:lnTo>
                  <a:lnTo>
                    <a:pt x="2167128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099" r="0" b="-34809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67128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49"/>
                </a:lnSpc>
              </a:pPr>
              <a:r>
                <a:rPr lang="en-US" sz="2124" b="true">
                  <a:solidFill>
                    <a:srgbClr val="D2691E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준비물:  </a:t>
              </a:r>
              <a:r>
                <a:rPr lang="en-US" sz="2124" b="true">
                  <a:solidFill>
                    <a:srgbClr val="222222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Claude 유료 계정(Pro 이상) + 컴퓨터(Windows / Mac) — 코딩 지식 필요 없음!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47236" y="2489168"/>
            <a:ext cx="16788956" cy="1413320"/>
            <a:chOff x="0" y="0"/>
            <a:chExt cx="22385274" cy="18844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385274" cy="1884426"/>
            </a:xfrm>
            <a:custGeom>
              <a:avLst/>
              <a:gdLst/>
              <a:ahLst/>
              <a:cxnLst/>
              <a:rect r="r" b="b" t="t" l="l"/>
              <a:pathLst>
                <a:path h="1884426" w="2238527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22274403" y="0"/>
                  </a:lnTo>
                  <a:cubicBezTo>
                    <a:pt x="22335617" y="0"/>
                    <a:pt x="22385274" y="49657"/>
                    <a:pt x="22385274" y="110871"/>
                  </a:cubicBezTo>
                  <a:lnTo>
                    <a:pt x="22385274" y="1773555"/>
                  </a:lnTo>
                  <a:cubicBezTo>
                    <a:pt x="22385274" y="1834769"/>
                    <a:pt x="22335617" y="1884426"/>
                    <a:pt x="22274403" y="1884426"/>
                  </a:cubicBezTo>
                  <a:lnTo>
                    <a:pt x="110871" y="1884426"/>
                  </a:lnTo>
                  <a:cubicBezTo>
                    <a:pt x="49657" y="1884426"/>
                    <a:pt x="0" y="1834769"/>
                    <a:pt x="0" y="1773555"/>
                  </a:cubicBezTo>
                  <a:close/>
                </a:path>
              </a:pathLst>
            </a:custGeom>
            <a:solidFill>
              <a:srgbClr val="F5F7FA"/>
            </a:solidFill>
            <a:ln w="14288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784348"/>
            <a:ext cx="822960" cy="822960"/>
            <a:chOff x="0" y="0"/>
            <a:chExt cx="109728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2784348"/>
            <a:ext cx="822960" cy="822960"/>
            <a:chOff x="0" y="0"/>
            <a:chExt cx="1097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00300" y="2606040"/>
            <a:ext cx="14881860" cy="1179576"/>
            <a:chOff x="0" y="0"/>
            <a:chExt cx="19842480" cy="15727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424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19842480">
                  <a:moveTo>
                    <a:pt x="0" y="0"/>
                  </a:moveTo>
                  <a:lnTo>
                    <a:pt x="19842480" y="0"/>
                  </a:lnTo>
                  <a:lnTo>
                    <a:pt x="198424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28" r="0" b="-19582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842480" cy="162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3"/>
                </a:lnSpc>
              </a:pPr>
              <a:r>
                <a:rPr lang="en-US" sz="2524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다운로드</a:t>
              </a:r>
            </a:p>
            <a:p>
              <a:pPr algn="l">
                <a:lnSpc>
                  <a:spcPts val="2889"/>
                </a:lnSpc>
              </a:pPr>
              <a:r>
                <a:rPr lang="en-US" sz="2149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인터넷에서 claude.com/download 접속 → 내 컴퓨터에 맞는 Claude 데스크톱 앱 다운로드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7236" y="4135088"/>
            <a:ext cx="16788956" cy="1413320"/>
            <a:chOff x="0" y="0"/>
            <a:chExt cx="22385274" cy="18844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385274" cy="1884426"/>
            </a:xfrm>
            <a:custGeom>
              <a:avLst/>
              <a:gdLst/>
              <a:ahLst/>
              <a:cxnLst/>
              <a:rect r="r" b="b" t="t" l="l"/>
              <a:pathLst>
                <a:path h="1884426" w="2238527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22274403" y="0"/>
                  </a:lnTo>
                  <a:cubicBezTo>
                    <a:pt x="22335617" y="0"/>
                    <a:pt x="22385274" y="49657"/>
                    <a:pt x="22385274" y="110871"/>
                  </a:cubicBezTo>
                  <a:lnTo>
                    <a:pt x="22385274" y="1773555"/>
                  </a:lnTo>
                  <a:cubicBezTo>
                    <a:pt x="22385274" y="1834769"/>
                    <a:pt x="22335617" y="1884426"/>
                    <a:pt x="22274403" y="1884426"/>
                  </a:cubicBezTo>
                  <a:lnTo>
                    <a:pt x="110871" y="1884426"/>
                  </a:lnTo>
                  <a:cubicBezTo>
                    <a:pt x="49657" y="1884426"/>
                    <a:pt x="0" y="1834769"/>
                    <a:pt x="0" y="1773555"/>
                  </a:cubicBezTo>
                  <a:close/>
                </a:path>
              </a:pathLst>
            </a:custGeom>
            <a:solidFill>
              <a:srgbClr val="F5F7FA"/>
            </a:solidFill>
            <a:ln w="14288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65860" y="4430268"/>
            <a:ext cx="822960" cy="822960"/>
            <a:chOff x="0" y="0"/>
            <a:chExt cx="1097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4430268"/>
            <a:ext cx="822960" cy="822960"/>
            <a:chOff x="0" y="0"/>
            <a:chExt cx="109728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400300" y="4251960"/>
            <a:ext cx="14881860" cy="1179576"/>
            <a:chOff x="0" y="0"/>
            <a:chExt cx="19842480" cy="15727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8424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19842480">
                  <a:moveTo>
                    <a:pt x="0" y="0"/>
                  </a:moveTo>
                  <a:lnTo>
                    <a:pt x="19842480" y="0"/>
                  </a:lnTo>
                  <a:lnTo>
                    <a:pt x="198424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28" r="0" b="-19582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9842480" cy="162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3"/>
                </a:lnSpc>
              </a:pPr>
              <a:r>
                <a:rPr lang="en-US" sz="2524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설치 후 로그인</a:t>
              </a:r>
            </a:p>
            <a:p>
              <a:pPr algn="l">
                <a:lnSpc>
                  <a:spcPts val="2889"/>
                </a:lnSpc>
              </a:pPr>
              <a:r>
                <a:rPr lang="en-US" sz="2149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다운로드한 파일을 더블클릭해 설치 → 평소 쓰는 Claude 계정으로 로그인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47236" y="5781008"/>
            <a:ext cx="16788956" cy="1413320"/>
            <a:chOff x="0" y="0"/>
            <a:chExt cx="22385274" cy="18844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385274" cy="1884426"/>
            </a:xfrm>
            <a:custGeom>
              <a:avLst/>
              <a:gdLst/>
              <a:ahLst/>
              <a:cxnLst/>
              <a:rect r="r" b="b" t="t" l="l"/>
              <a:pathLst>
                <a:path h="1884426" w="2238527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22274403" y="0"/>
                  </a:lnTo>
                  <a:cubicBezTo>
                    <a:pt x="22335617" y="0"/>
                    <a:pt x="22385274" y="49657"/>
                    <a:pt x="22385274" y="110871"/>
                  </a:cubicBezTo>
                  <a:lnTo>
                    <a:pt x="22385274" y="1773555"/>
                  </a:lnTo>
                  <a:cubicBezTo>
                    <a:pt x="22385274" y="1834769"/>
                    <a:pt x="22335617" y="1884426"/>
                    <a:pt x="22274403" y="1884426"/>
                  </a:cubicBezTo>
                  <a:lnTo>
                    <a:pt x="110871" y="1884426"/>
                  </a:lnTo>
                  <a:cubicBezTo>
                    <a:pt x="49657" y="1884426"/>
                    <a:pt x="0" y="1834769"/>
                    <a:pt x="0" y="1773555"/>
                  </a:cubicBezTo>
                  <a:close/>
                </a:path>
              </a:pathLst>
            </a:custGeom>
            <a:solidFill>
              <a:srgbClr val="F5F7FA"/>
            </a:solidFill>
            <a:ln w="14288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65860" y="6076188"/>
            <a:ext cx="822960" cy="822960"/>
            <a:chOff x="0" y="0"/>
            <a:chExt cx="10972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65860" y="6076188"/>
            <a:ext cx="822960" cy="822960"/>
            <a:chOff x="0" y="0"/>
            <a:chExt cx="1097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400300" y="5897880"/>
            <a:ext cx="14881860" cy="1179576"/>
            <a:chOff x="0" y="0"/>
            <a:chExt cx="19842480" cy="15727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8424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19842480">
                  <a:moveTo>
                    <a:pt x="0" y="0"/>
                  </a:moveTo>
                  <a:lnTo>
                    <a:pt x="19842480" y="0"/>
                  </a:lnTo>
                  <a:lnTo>
                    <a:pt x="198424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28" r="0" b="-19582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9842480" cy="162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3"/>
                </a:lnSpc>
              </a:pPr>
              <a:r>
                <a:rPr lang="en-US" sz="2524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Cowork 선택</a:t>
              </a:r>
            </a:p>
            <a:p>
              <a:pPr algn="l">
                <a:lnSpc>
                  <a:spcPts val="2889"/>
                </a:lnSpc>
              </a:pPr>
              <a:r>
                <a:rPr lang="en-US" sz="2149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메시지 입력창에서 Chat ↔ Cowork 중 「</a:t>
              </a:r>
              <a:r>
                <a:rPr lang="en-US" sz="2149" b="true">
                  <a:solidFill>
                    <a:srgbClr val="FF3131"/>
                  </a:solidFill>
                  <a:latin typeface="Arimo Bold"/>
                  <a:ea typeface="Arimo Bold"/>
                  <a:cs typeface="Arimo Bold"/>
                  <a:sym typeface="Arimo Bold"/>
                </a:rPr>
                <a:t>협업</a:t>
              </a:r>
              <a:r>
                <a:rPr lang="en-US" sz="2149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」 클릭 — 이게 전부!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7236" y="7426928"/>
            <a:ext cx="16788956" cy="1413320"/>
            <a:chOff x="0" y="0"/>
            <a:chExt cx="22385274" cy="188442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385274" cy="1884426"/>
            </a:xfrm>
            <a:custGeom>
              <a:avLst/>
              <a:gdLst/>
              <a:ahLst/>
              <a:cxnLst/>
              <a:rect r="r" b="b" t="t" l="l"/>
              <a:pathLst>
                <a:path h="1884426" w="22385274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22274403" y="0"/>
                  </a:lnTo>
                  <a:cubicBezTo>
                    <a:pt x="22335617" y="0"/>
                    <a:pt x="22385274" y="49657"/>
                    <a:pt x="22385274" y="110871"/>
                  </a:cubicBezTo>
                  <a:lnTo>
                    <a:pt x="22385274" y="1773555"/>
                  </a:lnTo>
                  <a:cubicBezTo>
                    <a:pt x="22385274" y="1834769"/>
                    <a:pt x="22335617" y="1884426"/>
                    <a:pt x="22274403" y="1884426"/>
                  </a:cubicBezTo>
                  <a:lnTo>
                    <a:pt x="110871" y="1884426"/>
                  </a:lnTo>
                  <a:cubicBezTo>
                    <a:pt x="49657" y="1884426"/>
                    <a:pt x="0" y="1834769"/>
                    <a:pt x="0" y="1773555"/>
                  </a:cubicBezTo>
                  <a:close/>
                </a:path>
              </a:pathLst>
            </a:custGeom>
            <a:solidFill>
              <a:srgbClr val="F5F7FA"/>
            </a:solidFill>
            <a:ln w="14288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65860" y="7722108"/>
            <a:ext cx="822960" cy="822960"/>
            <a:chOff x="0" y="0"/>
            <a:chExt cx="109728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9775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65860" y="7722108"/>
            <a:ext cx="822960" cy="822960"/>
            <a:chOff x="0" y="0"/>
            <a:chExt cx="109728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400300" y="7543800"/>
            <a:ext cx="14881860" cy="1179576"/>
            <a:chOff x="0" y="0"/>
            <a:chExt cx="19842480" cy="15727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842480" cy="1572768"/>
            </a:xfrm>
            <a:custGeom>
              <a:avLst/>
              <a:gdLst/>
              <a:ahLst/>
              <a:cxnLst/>
              <a:rect r="r" b="b" t="t" l="l"/>
              <a:pathLst>
                <a:path h="1572768" w="19842480">
                  <a:moveTo>
                    <a:pt x="0" y="0"/>
                  </a:moveTo>
                  <a:lnTo>
                    <a:pt x="19842480" y="0"/>
                  </a:lnTo>
                  <a:lnTo>
                    <a:pt x="1984248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828" r="0" b="-19582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9842480" cy="162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93"/>
                </a:lnSpc>
              </a:pPr>
              <a:r>
                <a:rPr lang="en-US" sz="2524" b="true">
                  <a:solidFill>
                    <a:srgbClr val="1E3A5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작업 시작</a:t>
              </a:r>
            </a:p>
            <a:p>
              <a:pPr algn="l">
                <a:lnSpc>
                  <a:spcPts val="2889"/>
                </a:lnSpc>
              </a:pPr>
              <a:r>
                <a:rPr lang="en-US" sz="2149">
                  <a:solidFill>
                    <a:srgbClr val="222222"/>
                  </a:solidFill>
                  <a:latin typeface="Arimo"/>
                  <a:ea typeface="Arimo"/>
                  <a:cs typeface="Arimo"/>
                  <a:sym typeface="Arimo"/>
                </a:rPr>
                <a:t>작업할 폴더를 연결하고, 원하는 결과물을 말로 설명하면 Claude가 계획부터 실행까지 알아서 진행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DAHPf8gNO0Q</dc:identifier>
  <dcterms:modified xsi:type="dcterms:W3CDTF">2011-08-01T06:04:30Z</dcterms:modified>
  <cp:revision>1</cp:revision>
  <dc:title>설치가이드_ChatGPTWork_ClaudeCowork_고연심 (1).pptx</dc:title>
</cp:coreProperties>
</file>